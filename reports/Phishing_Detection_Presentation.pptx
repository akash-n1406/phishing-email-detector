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1B2436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114800"/>
            <a:ext cx="4572000" cy="4572000"/>
          </a:xfrm>
          <a:prstGeom prst="ellipse">
            <a:avLst/>
          </a:prstGeom>
          <a:solidFill>
            <a:srgbClr val="E4572E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PHISHING EMAIL DETECTION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Natural Language Processing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5394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  |  Indian Institute of Computing and Technology (IICT)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5760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Akash  •  AI &amp; ML Internship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Phishing Hides in Plain Language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583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emails rely on language tricks rather than malware -- urgency, fake offers, and manipulative calls to action designed to bypass a reader's judgment before it bypasses any firewall.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3108960"/>
            <a:ext cx="6583680" cy="914400"/>
          </a:xfrm>
          <a:prstGeom prst="roundRect">
            <a:avLst>
              <a:gd name="adj" fmla="val 8000"/>
            </a:avLst>
          </a:prstGeom>
          <a:solidFill>
            <a:srgbClr val="1B243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3291840"/>
            <a:ext cx="548640" cy="5486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3200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35661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 now or your account will be suspended"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4160520"/>
            <a:ext cx="6583680" cy="914400"/>
          </a:xfrm>
          <a:prstGeom prst="roundRect">
            <a:avLst>
              <a:gd name="adj" fmla="val 8000"/>
            </a:avLst>
          </a:prstGeom>
          <a:solidFill>
            <a:srgbClr val="1B2436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4343400"/>
            <a:ext cx="548640" cy="5486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343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4251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Deceptive Links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46177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disguised as trusted domains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5212080"/>
            <a:ext cx="6583680" cy="914400"/>
          </a:xfrm>
          <a:prstGeom prst="roundRect">
            <a:avLst>
              <a:gd name="adj" fmla="val 8000"/>
            </a:avLst>
          </a:prstGeom>
          <a:solidFill>
            <a:srgbClr val="1B2436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5394960"/>
            <a:ext cx="548640" cy="5486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5394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5303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Reward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56692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"You've won" / "Claim your prize"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52360" y="1371600"/>
            <a:ext cx="4160520" cy="4617720"/>
          </a:xfrm>
          <a:prstGeom prst="roundRect">
            <a:avLst>
              <a:gd name="adj" fmla="val 1758"/>
            </a:avLst>
          </a:prstGeom>
          <a:solidFill>
            <a:srgbClr val="0D1321"/>
          </a:solidFill>
          <a:ln/>
        </p:spPr>
      </p:sp>
      <p:sp>
        <p:nvSpPr>
          <p:cNvPr id="20" name="Text 18"/>
          <p:cNvSpPr/>
          <p:nvPr/>
        </p:nvSpPr>
        <p:spPr>
          <a:xfrm>
            <a:off x="7635240" y="160020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FA7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60.7%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7635240" y="2286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Emails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35240" y="288036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39.3%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7635240" y="3566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772400" y="4160520"/>
            <a:ext cx="3886200" cy="0"/>
          </a:xfrm>
          <a:prstGeom prst="line">
            <a:avLst/>
          </a:prstGeom>
          <a:noFill/>
          <a:ln w="12700">
            <a:solidFill>
              <a:srgbClr val="3A435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35240" y="43434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18,650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635240" y="4892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labeled emails (Kaggle)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Phishing Email Detection Using NLP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a machine-learning system that automatically detects phishing emails using text analysis and metadata features -- built entirely from scratch: preprocessing, feature extraction, model training, and evaluation.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1B2436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3017520"/>
            <a:ext cx="502920" cy="5029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&amp; Clean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dataset, HTML/punctuation/stopword removal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274320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1B2436"/>
          </a:solidFill>
          <a:ln/>
        </p:spPr>
      </p:sp>
      <p:sp>
        <p:nvSpPr>
          <p:cNvPr id="10" name="Shape 8"/>
          <p:cNvSpPr/>
          <p:nvPr/>
        </p:nvSpPr>
        <p:spPr>
          <a:xfrm>
            <a:off x="3611880" y="3017520"/>
            <a:ext cx="502920" cy="5029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37033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Features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420624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structural metadata (URLs, caps, punctuation)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74320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1B2436"/>
          </a:solidFill>
          <a:ln/>
        </p:spPr>
      </p:sp>
      <p:sp>
        <p:nvSpPr>
          <p:cNvPr id="15" name="Shape 13"/>
          <p:cNvSpPr/>
          <p:nvPr/>
        </p:nvSpPr>
        <p:spPr>
          <a:xfrm>
            <a:off x="6446520" y="3017520"/>
            <a:ext cx="502920" cy="5029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7033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Compare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420624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classifier families evaluated on identical test data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52560" y="274320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1B2436"/>
          </a:solidFill>
          <a:ln/>
        </p:spPr>
      </p:sp>
      <p:sp>
        <p:nvSpPr>
          <p:cNvPr id="20" name="Shape 18"/>
          <p:cNvSpPr/>
          <p:nvPr/>
        </p:nvSpPr>
        <p:spPr>
          <a:xfrm>
            <a:off x="9281160" y="3017520"/>
            <a:ext cx="502920" cy="5029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9"/>
          <p:cNvSpPr/>
          <p:nvPr/>
        </p:nvSpPr>
        <p:spPr>
          <a:xfrm>
            <a:off x="928116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235440" y="37033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&amp; Report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35440" y="420624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importance, error analysis, recommendations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Phishing Email Detection Using NLP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From Raw Text to Predictions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48056" y="20116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0D1321"/>
          </a:solidFill>
          <a:ln/>
        </p:spPr>
      </p:sp>
      <p:sp>
        <p:nvSpPr>
          <p:cNvPr id="4" name="Text 2"/>
          <p:cNvSpPr/>
          <p:nvPr/>
        </p:nvSpPr>
        <p:spPr>
          <a:xfrm>
            <a:off x="448056" y="201168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2139696" y="2011680"/>
            <a:ext cx="228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</a:rPr>
              <a:t>→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368296" y="20116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B2436"/>
          </a:solidFill>
          <a:ln/>
        </p:spPr>
      </p:sp>
      <p:sp>
        <p:nvSpPr>
          <p:cNvPr id="7" name="Text 5"/>
          <p:cNvSpPr/>
          <p:nvPr/>
        </p:nvSpPr>
        <p:spPr>
          <a:xfrm>
            <a:off x="2368296" y="201168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059936" y="2011680"/>
            <a:ext cx="228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88536" y="20116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0D1321"/>
          </a:solidFill>
          <a:ln/>
        </p:spPr>
      </p:sp>
      <p:sp>
        <p:nvSpPr>
          <p:cNvPr id="10" name="Text 8"/>
          <p:cNvSpPr/>
          <p:nvPr/>
        </p:nvSpPr>
        <p:spPr>
          <a:xfrm>
            <a:off x="4288536" y="201168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80176" y="2011680"/>
            <a:ext cx="228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08776" y="20116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B2436"/>
          </a:solidFill>
          <a:ln/>
        </p:spPr>
      </p:sp>
      <p:sp>
        <p:nvSpPr>
          <p:cNvPr id="13" name="Text 11"/>
          <p:cNvSpPr/>
          <p:nvPr/>
        </p:nvSpPr>
        <p:spPr>
          <a:xfrm>
            <a:off x="6208776" y="201168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900416" y="2011680"/>
            <a:ext cx="228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29016" y="20116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0D1321"/>
          </a:solidFill>
          <a:ln/>
        </p:spPr>
      </p:sp>
      <p:sp>
        <p:nvSpPr>
          <p:cNvPr id="16" name="Text 14"/>
          <p:cNvSpPr/>
          <p:nvPr/>
        </p:nvSpPr>
        <p:spPr>
          <a:xfrm>
            <a:off x="8129016" y="201168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820656" y="2011680"/>
            <a:ext cx="228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049256" y="20116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B2436"/>
          </a:solidFill>
          <a:ln/>
        </p:spPr>
      </p:sp>
      <p:sp>
        <p:nvSpPr>
          <p:cNvPr id="19" name="Text 17"/>
          <p:cNvSpPr/>
          <p:nvPr/>
        </p:nvSpPr>
        <p:spPr>
          <a:xfrm>
            <a:off x="10049256" y="201168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33832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engineering decision: leakage prevention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3840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 happens BEFORE fitting the TF-IDF vectorizer and metadata scaler. Fitting on the full dataset first would let test-set information leak into the vocabulary and feature scaling, silently inflating every reported metric.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489204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1B243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50292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92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18,634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8640" y="55778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after cleaning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91840" y="489204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1B2436"/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0" y="50292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92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291840" y="55778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features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35040" y="489204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1B2436"/>
          </a:solidFill>
          <a:ln/>
        </p:spPr>
      </p:sp>
      <p:sp>
        <p:nvSpPr>
          <p:cNvPr id="29" name="Text 27"/>
          <p:cNvSpPr/>
          <p:nvPr/>
        </p:nvSpPr>
        <p:spPr>
          <a:xfrm>
            <a:off x="6035040" y="50292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92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035040" y="55778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features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778240" y="489204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1B2436"/>
          </a:solidFill>
          <a:ln/>
        </p:spPr>
      </p:sp>
      <p:sp>
        <p:nvSpPr>
          <p:cNvPr id="32" name="Text 30"/>
          <p:cNvSpPr/>
          <p:nvPr/>
        </p:nvSpPr>
        <p:spPr>
          <a:xfrm>
            <a:off x="8778240" y="50292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92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80/20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778240" y="55778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Phishing Email Detection Using NLP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Models, One Test Set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classifiers evaluated on the same held-out 3,726 emails</a:t>
            </a:r>
            <a:endParaRPr lang="en-US" sz="1300" dirty="0"/>
          </a:p>
        </p:txBody>
      </p:sp>
      <p:pic>
        <p:nvPicPr>
          <p:cNvPr id="4" name="Image 0" descr="chart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08760"/>
            <a:ext cx="6949440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1645920"/>
            <a:ext cx="3977640" cy="868680"/>
          </a:xfrm>
          <a:prstGeom prst="roundRect">
            <a:avLst>
              <a:gd name="adj" fmla="val 6316"/>
            </a:avLst>
          </a:prstGeom>
          <a:solidFill>
            <a:srgbClr val="24304A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1737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63840" y="20848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0149840" y="164592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92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97.18%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680960" y="2633472"/>
            <a:ext cx="3977640" cy="868680"/>
          </a:xfrm>
          <a:prstGeom prst="roundRect">
            <a:avLst>
              <a:gd name="adj" fmla="val 6316"/>
            </a:avLst>
          </a:prstGeom>
          <a:solidFill>
            <a:srgbClr val="1B2436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0" y="27249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863840" y="307238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0149840" y="2633472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9B4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96.78%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7680960" y="3621024"/>
            <a:ext cx="3977640" cy="868680"/>
          </a:xfrm>
          <a:prstGeom prst="roundRect">
            <a:avLst>
              <a:gd name="adj" fmla="val 6316"/>
            </a:avLst>
          </a:prstGeom>
          <a:solidFill>
            <a:srgbClr val="1B2436"/>
          </a:solidFill>
          <a:ln/>
        </p:spPr>
      </p:sp>
      <p:sp>
        <p:nvSpPr>
          <p:cNvPr id="14" name="Text 11"/>
          <p:cNvSpPr/>
          <p:nvPr/>
        </p:nvSpPr>
        <p:spPr>
          <a:xfrm>
            <a:off x="7863840" y="371246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863840" y="405993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0149840" y="3621024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9B4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95.87%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7680960" y="4608576"/>
            <a:ext cx="3977640" cy="868680"/>
          </a:xfrm>
          <a:prstGeom prst="roundRect">
            <a:avLst>
              <a:gd name="adj" fmla="val 6316"/>
            </a:avLst>
          </a:prstGeom>
          <a:solidFill>
            <a:srgbClr val="1B2436"/>
          </a:solidFill>
          <a:ln/>
        </p:spPr>
      </p:sp>
      <p:sp>
        <p:nvSpPr>
          <p:cNvPr id="18" name="Text 15"/>
          <p:cNvSpPr/>
          <p:nvPr/>
        </p:nvSpPr>
        <p:spPr>
          <a:xfrm>
            <a:off x="7863840" y="470001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863840" y="50474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49840" y="4608576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9B4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95.81%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Phishing Email Detection Using NLP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Model, When?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leadership doesn't point to one universal winner -- it depends on the cost you're optimizing for.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1B2436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286000"/>
            <a:ext cx="2148840" cy="73152"/>
          </a:xfrm>
          <a:prstGeom prst="roundRect">
            <a:avLst/>
          </a:prstGeom>
          <a:solidFill>
            <a:srgbClr val="5FA77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514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FA7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97.18% accuracy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 performance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201168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1B2436"/>
          </a:solidFill>
          <a:ln/>
        </p:spPr>
      </p:sp>
      <p:sp>
        <p:nvSpPr>
          <p:cNvPr id="10" name="Shape 8"/>
          <p:cNvSpPr/>
          <p:nvPr/>
        </p:nvSpPr>
        <p:spPr>
          <a:xfrm>
            <a:off x="3611880" y="2286000"/>
            <a:ext cx="2148840" cy="73152"/>
          </a:xfrm>
          <a:prstGeom prst="roundRect">
            <a:avLst/>
          </a:prstGeom>
          <a:solidFill>
            <a:srgbClr val="3E92CC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2514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566160" y="31089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92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95.97% F1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66160" y="379476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interpretable coefficients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01168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1B2436"/>
          </a:solidFill>
          <a:ln/>
        </p:spPr>
      </p:sp>
      <p:sp>
        <p:nvSpPr>
          <p:cNvPr id="15" name="Shape 13"/>
          <p:cNvSpPr/>
          <p:nvPr/>
        </p:nvSpPr>
        <p:spPr>
          <a:xfrm>
            <a:off x="6446520" y="2286000"/>
            <a:ext cx="2148840" cy="73152"/>
          </a:xfrm>
          <a:prstGeom prst="roundRect">
            <a:avLst/>
          </a:prstGeom>
          <a:solidFill>
            <a:srgbClr val="E4572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514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0" y="31089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98.70% recall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0" y="379476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the most phishing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560" y="201168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1B2436"/>
          </a:solidFill>
          <a:ln/>
        </p:spPr>
      </p:sp>
      <p:sp>
        <p:nvSpPr>
          <p:cNvPr id="20" name="Shape 18"/>
          <p:cNvSpPr/>
          <p:nvPr/>
        </p:nvSpPr>
        <p:spPr>
          <a:xfrm>
            <a:off x="9281160" y="2286000"/>
            <a:ext cx="2148840" cy="73152"/>
          </a:xfrm>
          <a:prstGeom prst="roundRect">
            <a:avLst/>
          </a:prstGeom>
          <a:solidFill>
            <a:srgbClr val="A9B4C2"/>
          </a:solidFill>
          <a:ln/>
        </p:spPr>
      </p:sp>
      <p:sp>
        <p:nvSpPr>
          <p:cNvPr id="21" name="Text 19"/>
          <p:cNvSpPr/>
          <p:nvPr/>
        </p:nvSpPr>
        <p:spPr>
          <a:xfrm>
            <a:off x="9235440" y="2514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235440" y="31089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9B4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94.75% F1 (text only)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35440" y="379476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no metadata available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Phishing Email Detection Using NLP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Model Actually Learned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coefficients directly show which words push toward each class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0D132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57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PHISHING signal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2286000" cy="640080"/>
          </a:xfrm>
          <a:prstGeom prst="rect">
            <a:avLst/>
          </a:prstGeom>
          <a:solidFill>
            <a:srgbClr val="2A1A1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91840" y="2560320"/>
            <a:ext cx="2286000" cy="640080"/>
          </a:xfrm>
          <a:prstGeom prst="rect">
            <a:avLst/>
          </a:prstGeom>
          <a:solidFill>
            <a:srgbClr val="2A1A1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2286000" cy="640080"/>
          </a:xfrm>
          <a:prstGeom prst="rect">
            <a:avLst/>
          </a:prstGeom>
          <a:solidFill>
            <a:srgbClr val="2A1A1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91840" y="3337560"/>
            <a:ext cx="2286000" cy="640080"/>
          </a:xfrm>
          <a:prstGeom prst="rect">
            <a:avLst/>
          </a:prstGeom>
          <a:solidFill>
            <a:srgbClr val="2A1A1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4114800"/>
            <a:ext cx="2286000" cy="640080"/>
          </a:xfrm>
          <a:prstGeom prst="rect">
            <a:avLst/>
          </a:prstGeom>
          <a:solidFill>
            <a:srgbClr val="2A1A1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91840" y="4114800"/>
            <a:ext cx="2286000" cy="640080"/>
          </a:xfrm>
          <a:prstGeom prst="rect">
            <a:avLst/>
          </a:prstGeom>
          <a:solidFill>
            <a:srgbClr val="2A1A1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892040"/>
            <a:ext cx="2286000" cy="640080"/>
          </a:xfrm>
          <a:prstGeom prst="rect">
            <a:avLst/>
          </a:prstGeom>
          <a:solidFill>
            <a:srgbClr val="2A1A1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91840" y="4892040"/>
            <a:ext cx="2286000" cy="640080"/>
          </a:xfrm>
          <a:prstGeom prst="rect">
            <a:avLst/>
          </a:prstGeom>
          <a:solidFill>
            <a:srgbClr val="2A1A1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63640" y="182880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0D1321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2057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A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SAFE signal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37960" y="2560320"/>
            <a:ext cx="2286000" cy="640080"/>
          </a:xfrm>
          <a:prstGeom prst="rect">
            <a:avLst/>
          </a:prstGeom>
          <a:solidFill>
            <a:srgbClr val="16241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006840" y="2560320"/>
            <a:ext cx="2286000" cy="640080"/>
          </a:xfrm>
          <a:prstGeom prst="rect">
            <a:avLst/>
          </a:prstGeom>
          <a:solidFill>
            <a:srgbClr val="16241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37960" y="3337560"/>
            <a:ext cx="2286000" cy="640080"/>
          </a:xfrm>
          <a:prstGeom prst="rect">
            <a:avLst/>
          </a:prstGeom>
          <a:solidFill>
            <a:srgbClr val="16241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06840" y="3337560"/>
            <a:ext cx="2286000" cy="640080"/>
          </a:xfrm>
          <a:prstGeom prst="rect">
            <a:avLst/>
          </a:prstGeom>
          <a:solidFill>
            <a:srgbClr val="16241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37960" y="4114800"/>
            <a:ext cx="2286000" cy="640080"/>
          </a:xfrm>
          <a:prstGeom prst="rect">
            <a:avLst/>
          </a:prstGeom>
          <a:solidFill>
            <a:srgbClr val="16241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vince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06840" y="4114800"/>
            <a:ext cx="2286000" cy="640080"/>
          </a:xfrm>
          <a:prstGeom prst="rect">
            <a:avLst/>
          </a:prstGeom>
          <a:solidFill>
            <a:srgbClr val="16241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linguistics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37960" y="4892040"/>
            <a:ext cx="2286000" cy="640080"/>
          </a:xfrm>
          <a:prstGeom prst="rect">
            <a:avLst/>
          </a:prstGeom>
          <a:solidFill>
            <a:srgbClr val="16241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06840" y="4892040"/>
            <a:ext cx="2286000" cy="640080"/>
          </a:xfrm>
          <a:prstGeom prst="rect">
            <a:avLst/>
          </a:prstGeom>
          <a:solidFill>
            <a:srgbClr val="16241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attached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Phishing Email Detection Using NLP  |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Caveat Worth Naming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0881360" cy="1554480"/>
          </a:xfrm>
          <a:prstGeom prst="roundRect">
            <a:avLst>
              <a:gd name="adj" fmla="val 5882"/>
            </a:avLst>
          </a:prstGeom>
          <a:solidFill>
            <a:srgbClr val="1B243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4592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"Safe" terms like enron, vince, and university reflect this dataset's specific source -- Enron corporate mail and academic discussion threads -- not legitimate email in general. The model may have partly learned "corporate/academic English" as a proxy for safety.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3375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Neural Network still fails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0D132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0233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ambiguity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526280"/>
            <a:ext cx="31546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spam misread as phishing, or vice versa -- a genuinely blurry line even for humans.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384048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0D1321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40233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obfuscation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34840" y="4526280"/>
            <a:ext cx="31546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padded with unrelated text (quotes, trivia) to dodge keyword-based detection -- a structural blind spot of TF-IDF models.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384048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0D1321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0" y="40233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content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38160" y="4526280"/>
            <a:ext cx="31546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subset of false positives are placeholder/empty-body rows -- a data quality artifact, not a model failure.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Phishing Email Detection Using NLP  |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E4572E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Future 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guidance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Neural Network -- when raw performance is the priority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Logistic Regression -- when explainability / audit trail matters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Random Forest -- when missing phishing is costlier than false alarms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263640" y="13716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63640" y="192024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Context-aware embeddings (transformers) to close the obfuscation blind spot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263640" y="25146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Validate generalization beyond the Enron corpus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263640" y="310896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Stress-test against modern LLM-generated phishing samples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64240" cy="0"/>
          </a:xfrm>
          <a:prstGeom prst="line">
            <a:avLst/>
          </a:prstGeom>
          <a:noFill/>
          <a:ln w="12700">
            <a:solidFill>
              <a:srgbClr val="2A34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2062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9B4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four models exceeded 95% accuracy -- confirming phishing carries strong, learnable signal.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Phishing Email Detection Using NLP  |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1B2436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5603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5760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github.com/Akash-N1406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2026-07-10T06:32:55Z</dcterms:created>
  <dcterms:modified xsi:type="dcterms:W3CDTF">2026-07-10T06:32:55Z</dcterms:modified>
</cp:coreProperties>
</file>